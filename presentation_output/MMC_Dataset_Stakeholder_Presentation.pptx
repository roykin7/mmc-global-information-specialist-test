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/>
            </a:pPr>
            <a:r>
              <a:t>Migration Journey Dataset: Key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42416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Objective: summarize respondent profile and journey risks for stakeholders.</a:t>
            </a:r>
          </a:p>
          <a:p>
            <a:pPr>
              <a:defRPr sz="2400"/>
            </a:pPr>
            <a:r>
              <a:t>Sample size: 460 records, 89 variables.</a:t>
            </a:r>
          </a:p>
          <a:p>
            <a:pPr>
              <a:defRPr sz="2400"/>
            </a:pPr>
            <a:r>
              <a:t>Tooling: Python (pandas, matplotlib, seaborn, python-pptx).</a:t>
            </a:r>
          </a:p>
          <a:p>
            <a:pPr>
              <a:defRPr sz="2400"/>
            </a:pPr>
            <a:r>
              <a:t>Source file: IMS_Test_Data 1.xlsx (Sheet1).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/>
            </a:pPr>
            <a:r>
              <a:t>1) Respondent Demographics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56692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Median age: 24.0 years (IQR 22-30).</a:t>
            </a:r>
          </a:p>
          <a:p>
            <a:pPr>
              <a:defRPr sz="1800"/>
            </a:pPr>
            <a:r>
              <a:t>Sex split: Female 55.0%, Male 45.0%.</a:t>
            </a:r>
          </a:p>
          <a:p>
            <a:pPr>
              <a:defRPr sz="1800"/>
            </a:pPr>
            <a:r>
              <a:t>Education mostly primary or secondary; low tertiary completion.</a:t>
            </a:r>
          </a:p>
        </p:txBody>
      </p:sp>
      <p:pic>
        <p:nvPicPr>
          <p:cNvPr id="4" name="Picture 3" descr="age_h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43200"/>
            <a:ext cx="5303520" cy="2916936"/>
          </a:xfrm>
          <a:prstGeom prst="rect">
            <a:avLst/>
          </a:prstGeom>
        </p:spPr>
      </p:pic>
      <p:pic>
        <p:nvPicPr>
          <p:cNvPr id="5" name="Picture 4" descr="nationality_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280160"/>
            <a:ext cx="5394960" cy="296722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/>
            </a:pPr>
            <a:r>
              <a:t>2) Migration &amp; Legal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05840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Current location concentration: Midlandia (459), Eastlandia (1).</a:t>
            </a:r>
          </a:p>
          <a:p>
            <a:pPr>
              <a:defRPr sz="2000"/>
            </a:pPr>
            <a:r>
              <a:t>Top legal statuses: Refugee (261), Asylum seeker (112), Irregular/no legal documents to stay in this country (66).</a:t>
            </a:r>
          </a:p>
          <a:p>
            <a:pPr>
              <a:defRPr sz="2000"/>
            </a:pPr>
            <a:r>
              <a:t>Top education levels: Primary school (201), Secondary or high school (142), Did not complete any schooling (82).</a:t>
            </a:r>
          </a:p>
          <a:p>
            <a:pPr>
              <a:defRPr sz="2000"/>
            </a:pPr>
            <a:r>
              <a:t>Income before departure: No 318, Yes 142.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/>
            </a:pPr>
            <a:r>
              <a:t>3) Journey Methods and Exposure to Harm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5156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Walking and bus travel dominate mobility patterns.</a:t>
            </a:r>
          </a:p>
          <a:p>
            <a:pPr>
              <a:defRPr sz="1800"/>
            </a:pPr>
            <a:r>
              <a:t>Robbery and physical violence are the most frequently reported incidents.</a:t>
            </a:r>
          </a:p>
          <a:p>
            <a:pPr>
              <a:defRPr sz="1800"/>
            </a:pPr>
            <a:r>
              <a:t>Multiple respondents also report witnessed death and health impacts.</a:t>
            </a:r>
          </a:p>
        </p:txBody>
      </p:sp>
      <p:pic>
        <p:nvPicPr>
          <p:cNvPr id="4" name="Picture 3" descr="transport_cou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11680"/>
            <a:ext cx="5303520" cy="2916936"/>
          </a:xfrm>
          <a:prstGeom prst="rect">
            <a:avLst/>
          </a:prstGeom>
        </p:spPr>
      </p:pic>
      <p:pic>
        <p:nvPicPr>
          <p:cNvPr id="5" name="Picture 4" descr="incident_cou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2011680"/>
            <a:ext cx="5303520" cy="291693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/>
            </a:pPr>
            <a:r>
              <a:t>4) Protection Behaviors and Priority Actions</a:t>
            </a:r>
          </a:p>
        </p:txBody>
      </p:sp>
      <p:pic>
        <p:nvPicPr>
          <p:cNvPr id="3" name="Picture 2" descr="protection_cou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5303520" cy="291693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35040" y="1371600"/>
            <a:ext cx="512064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Most common strategy is traveling in groups.</a:t>
            </a:r>
          </a:p>
          <a:p>
            <a:pPr>
              <a:defRPr sz="1800"/>
            </a:pPr>
            <a:r>
              <a:t>A large subgroup reports taking no protective action.</a:t>
            </a:r>
          </a:p>
          <a:p>
            <a:pPr>
              <a:defRPr sz="1800"/>
            </a:pPr>
            <a:r>
              <a:t>Priority: scale trusted-information channels and route safety guidance.</a:t>
            </a:r>
          </a:p>
          <a:p>
            <a:pPr>
              <a:defRPr sz="1800"/>
            </a:pPr>
            <a:r>
              <a:t>Priority: targeted support where robbery and violence rates are highest.</a:t>
            </a:r>
          </a:p>
          <a:p>
            <a:pPr>
              <a:defRPr sz="1800"/>
            </a:pPr>
            <a:r>
              <a:t>Priority: strengthen case management for high-risk groups.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